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2"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jVbKSE3o/eYBIKbAgkcIW7PGNBe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976" y="5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6" name="Google Shape;96;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 name="Google Shape;10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8cdb4fd196_2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3" name="Google Shape;143;g38cdb4fd196_2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2" name="Google Shape;16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A82E3-6025-DA28-CEE0-80F613D030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DC19A72-5EA4-26AB-084E-295F9E282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361223C-284D-437C-5DB8-C3B2B0A14969}"/>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C1FAA3D-12A7-D205-05CE-1B922D791F7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61FDE2-C6ED-6DB3-3518-6302170DD6EE}"/>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026640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4D97E-D4B8-DD63-975D-CE0E7C9843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87DCF3C-FA19-CEE9-C03F-4D28C7A430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6182BD-2BAF-ACCA-341F-14E5620F090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0F835542-4125-AEC3-EB70-239707CC8B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9367C4-5027-ABA6-DC31-2B7FCE45189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265624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1E346-0B10-493F-1B3E-DFE1B2143F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C0BEF8F-7063-3245-5BAB-76927D710B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B8AA44-986B-F428-31A2-5CCDC24BCCA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534C0FAA-AC00-D548-AA28-0E62E1D4D4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AF4362-C638-DED9-8346-D11893A35804}"/>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879792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E9B8D-A2F5-0ED5-A651-DEF18A2F57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7FE5E6-F801-9828-7CA6-53D33D27DD7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6EB6D34-FA33-4B8B-0D7D-EB4BDD10F4A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F8E46B-0BF7-E1B6-733E-DF2888E8C5D9}"/>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D6A11C70-0921-6027-FBE7-65D4F319D01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61A54E-EFB1-DB93-3266-231BCA96A0B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8515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08969-40B3-C09A-594F-D04D30BF68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890522-FE12-8FF5-69B0-C58EE253BBC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114D30-B2FC-71EC-7669-847BF9913B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42FC47B-864A-D599-884B-014A0F9C25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A4930FE-3BBD-567C-1F41-46FB82ACFEC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F0F301A-9E0D-13A9-03C1-8F1668348BEC}"/>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BB266802-885C-0025-2705-24695F815A9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8A71E70-ECE2-E8DF-FA2F-2B9E5B3F87E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652757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15071-D8FE-03F9-097A-F97632D7F94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3FC79725-5DD1-9740-8A89-64417464FC2C}"/>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B942BDFA-28C9-AB84-75A0-B4F6ADA896D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F4478C6-D42A-87F9-1550-6528EA920BB5}"/>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896878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77206A-EA99-D4E7-50DE-0BDF345FE6D3}"/>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AAB62275-530E-F03F-D471-86D215C9EEB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B568AE0-41FA-B682-6060-9B4B82DC036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23454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CDCEA-AE6A-C673-2D65-6BF5DFD3F2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845293-887D-F623-D153-8FEBFB595AB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9192933-2CD5-1E8D-CBBC-9F31F051FF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152155-A8FD-8CDE-24B4-E2FB81FB360E}"/>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94419561-2856-94FA-52FE-9E3A499BF33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FDA16D-84DE-E6AA-74D3-8BD6CB5733D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935005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89879-7366-EEC3-729A-1F6F42C92FB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9A87C82-3DFF-72DA-E6EA-A8FDC29BDB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FD86903-C70C-1867-971D-75FED7608A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AC6023-7C51-C70C-29AC-3737DC2F35B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CCD8863F-65AF-409E-59F8-393B6B5071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8E28C2-8182-A067-B3FC-C3212C37AD3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834438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F84DE-5CC0-C175-5AC7-9B1EAB473CF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64F1C7-CAAF-8914-0AB5-66073FE965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ABAE24-9639-6201-9C83-3173FD9365E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3EA7532-55CB-B7CC-44A2-3D554E8AF0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C21FFD-EB55-7EB4-AC09-CE8DDC47D8A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118129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0DA5BF-BD2D-A686-7C7E-7A17F9B96CF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A7E18E-0385-8071-11AA-C8184C3DD20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A00BB1-232D-695C-137F-B111D28FFD1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2249BB3-82AD-5798-D098-F72F883CE01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4DED44-B9FF-FF7D-7FC5-10D0A67FEDE0}"/>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2026795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6B2A6B-F5BB-E8FC-4E30-B56D0E93C0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E58A7E-0C2C-8488-5ACB-E8279DF281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996FE4-2EC3-5FE2-1CF3-D1009C3FAE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557C50E1-AC8C-4AD0-2446-B49D8E257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8E287AB-48E0-BF97-EE94-422551B342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IN" smtClean="0"/>
              <a:t>‹#›</a:t>
            </a:fld>
            <a:endParaRPr lang="en-IN"/>
          </a:p>
        </p:txBody>
      </p:sp>
    </p:spTree>
    <p:extLst>
      <p:ext uri="{BB962C8B-B14F-4D97-AF65-F5344CB8AC3E}">
        <p14:creationId xmlns:p14="http://schemas.microsoft.com/office/powerpoint/2010/main" val="38605012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1500000" y="2723789"/>
            <a:ext cx="9144000" cy="1654500"/>
          </a:xfrm>
          <a:prstGeom prst="rect">
            <a:avLst/>
          </a:prstGeom>
          <a:noFill/>
          <a:ln>
            <a:noFill/>
          </a:ln>
        </p:spPr>
        <p:txBody>
          <a:bodyPr spcFirstLastPara="1" wrap="square" lIns="91425" tIns="45700" rIns="91425" bIns="45700" anchor="b" anchorCtr="0">
            <a:noAutofit/>
          </a:bodyPr>
          <a:lstStyle/>
          <a:p>
            <a:pPr marL="0" lvl="0" indent="0" algn="ctr" rtl="0">
              <a:lnSpc>
                <a:spcPct val="200000"/>
              </a:lnSpc>
              <a:spcBef>
                <a:spcPts val="0"/>
              </a:spcBef>
              <a:spcAft>
                <a:spcPts val="0"/>
              </a:spcAft>
              <a:buClr>
                <a:srgbClr val="0C3571"/>
              </a:buClr>
              <a:buSzPts val="2800"/>
              <a:buFont typeface="Anta"/>
              <a:buNone/>
            </a:pP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br>
              <a:rPr lang="en-IN" sz="2800" b="1" dirty="0">
                <a:solidFill>
                  <a:srgbClr val="0C3571"/>
                </a:solidFill>
                <a:latin typeface="Anta"/>
                <a:ea typeface="Anta"/>
                <a:cs typeface="Anta"/>
                <a:sym typeface="Anta"/>
              </a:rPr>
            </a:br>
            <a:r>
              <a:rPr lang="en-IN" sz="4400" b="1" dirty="0">
                <a:solidFill>
                  <a:srgbClr val="0C3571"/>
                </a:solidFill>
                <a:latin typeface="Times New Roman"/>
                <a:ea typeface="Times New Roman"/>
                <a:cs typeface="Times New Roman"/>
                <a:sym typeface="Times New Roman"/>
              </a:rPr>
              <a:t>Capstone Project 1 </a:t>
            </a:r>
            <a:br>
              <a:rPr lang="en-IN" sz="4400" b="1" dirty="0">
                <a:solidFill>
                  <a:srgbClr val="0C3571"/>
                </a:solidFill>
                <a:latin typeface="Times New Roman"/>
                <a:ea typeface="Times New Roman"/>
                <a:cs typeface="Times New Roman"/>
                <a:sym typeface="Times New Roman"/>
              </a:rPr>
            </a:br>
            <a:r>
              <a:rPr lang="en-US" sz="3200" b="1" dirty="0">
                <a:solidFill>
                  <a:srgbClr val="002060"/>
                </a:solidFill>
                <a:latin typeface="Times New Roman" panose="02020603050405020304" pitchFamily="18" charset="0"/>
                <a:cs typeface="Times New Roman" panose="02020603050405020304" pitchFamily="18" charset="0"/>
              </a:rPr>
              <a:t>Heart Disease Detection Using Classification Algorithms</a:t>
            </a:r>
            <a:endParaRPr lang="en-IN" sz="2400" b="1" dirty="0">
              <a:solidFill>
                <a:srgbClr val="002060"/>
              </a:solidFill>
              <a:latin typeface="Times New Roman" panose="02020603050405020304" pitchFamily="18" charset="0"/>
              <a:ea typeface="Arial"/>
              <a:cs typeface="Times New Roman" panose="02020603050405020304" pitchFamily="18" charset="0"/>
              <a:sym typeface="Arial"/>
            </a:endParaRPr>
          </a:p>
          <a:p>
            <a:pPr marL="0" lvl="0" indent="0" algn="ctr" rtl="0">
              <a:lnSpc>
                <a:spcPct val="200000"/>
              </a:lnSpc>
              <a:spcBef>
                <a:spcPts val="0"/>
              </a:spcBef>
              <a:spcAft>
                <a:spcPts val="0"/>
              </a:spcAft>
              <a:buClr>
                <a:srgbClr val="0C3571"/>
              </a:buClr>
              <a:buSzPts val="2800"/>
              <a:buFont typeface="Anta"/>
              <a:buNone/>
            </a:pPr>
            <a:br>
              <a:rPr lang="en-IN" sz="1600" b="1" dirty="0">
                <a:solidFill>
                  <a:srgbClr val="002060"/>
                </a:solidFill>
                <a:latin typeface="Times New Roman"/>
                <a:ea typeface="Times New Roman"/>
                <a:cs typeface="Times New Roman"/>
                <a:sym typeface="Times New Roman"/>
              </a:rPr>
            </a:br>
            <a:endParaRPr lang="en-IN" sz="1600" dirty="0">
              <a:solidFill>
                <a:srgbClr val="002060"/>
              </a:solidFill>
              <a:latin typeface="Times New Roman"/>
              <a:ea typeface="Times New Roman"/>
              <a:cs typeface="Times New Roman"/>
              <a:sym typeface="Times New Roman"/>
            </a:endParaRPr>
          </a:p>
        </p:txBody>
      </p:sp>
      <p:sp>
        <p:nvSpPr>
          <p:cNvPr id="85" name="Google Shape;85;p1"/>
          <p:cNvSpPr txBox="1"/>
          <p:nvPr/>
        </p:nvSpPr>
        <p:spPr>
          <a:xfrm>
            <a:off x="7389680" y="4081006"/>
            <a:ext cx="4125600" cy="218517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0" i="0" u="none" strike="noStrike" cap="none" dirty="0">
                <a:solidFill>
                  <a:srgbClr val="2F5496"/>
                </a:solidFill>
                <a:latin typeface="Times New Roman"/>
                <a:ea typeface="Times New Roman"/>
                <a:cs typeface="Times New Roman"/>
                <a:sym typeface="Times New Roman"/>
              </a:rPr>
              <a:t>Team Members</a:t>
            </a:r>
            <a:endParaRPr dirty="0"/>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T170800508: Mahesh Kakade</a:t>
            </a:r>
            <a:endParaRPr dirty="0"/>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T170800506: Akshad Aulwar</a:t>
            </a: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T170800545 : Prathamesh Bangar</a:t>
            </a: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T170800505: Yash Mhaske</a:t>
            </a:r>
            <a:endParaRPr dirty="0"/>
          </a:p>
          <a:p>
            <a:pPr marL="0" marR="0" lvl="0" indent="0" algn="l" rtl="0">
              <a:spcBef>
                <a:spcPts val="0"/>
              </a:spcBef>
              <a:spcAft>
                <a:spcPts val="0"/>
              </a:spcAft>
              <a:buNone/>
            </a:pPr>
            <a:r>
              <a:rPr lang="en-IN" sz="1800" dirty="0">
                <a:solidFill>
                  <a:srgbClr val="2F5496"/>
                </a:solidFill>
                <a:latin typeface="Times New Roman"/>
                <a:ea typeface="Times New Roman"/>
                <a:cs typeface="Times New Roman"/>
                <a:sym typeface="Times New Roman"/>
              </a:rPr>
              <a:t>T170800510:  Sanket Satamkar</a:t>
            </a:r>
            <a:endParaRPr sz="18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p:txBody>
      </p:sp>
      <p:pic>
        <p:nvPicPr>
          <p:cNvPr id="86" name="Google Shape;86;p1"/>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87" name="Google Shape;87;p1"/>
          <p:cNvSpPr txBox="1"/>
          <p:nvPr/>
        </p:nvSpPr>
        <p:spPr>
          <a:xfrm>
            <a:off x="0" y="0"/>
            <a:ext cx="3000000" cy="615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800">
              <a:solidFill>
                <a:srgbClr val="2F5496"/>
              </a:solidFill>
              <a:latin typeface="Times New Roman"/>
              <a:ea typeface="Times New Roman"/>
              <a:cs typeface="Times New Roman"/>
              <a:sym typeface="Times New Roman"/>
            </a:endParaRPr>
          </a:p>
        </p:txBody>
      </p:sp>
      <p:sp>
        <p:nvSpPr>
          <p:cNvPr id="88"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2"/>
          <p:cNvSpPr txBox="1"/>
          <p:nvPr/>
        </p:nvSpPr>
        <p:spPr>
          <a:xfrm>
            <a:off x="736855" y="427500"/>
            <a:ext cx="10417500" cy="6003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4000" dirty="0">
                <a:solidFill>
                  <a:schemeClr val="dk1"/>
                </a:solidFill>
                <a:latin typeface="Times New Roman"/>
                <a:ea typeface="Times New Roman"/>
                <a:cs typeface="Times New Roman"/>
                <a:sym typeface="Times New Roman"/>
              </a:rPr>
              <a:t>Table of Contents</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Problem Statement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Overview of the Project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generation &amp; Loading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Exploration &amp; Understanding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Exploratory Data Analysis</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Data Preprocessing &amp; Feature Engineering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Model Building &amp; Training</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Model Evaluation &amp; Performance Analysis</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Stream API Deployment (Streamlit)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Docker Deployment</a:t>
            </a:r>
            <a:endParaRPr dirty="0"/>
          </a:p>
          <a:p>
            <a:pPr marL="285750" marR="0" lvl="0" indent="-285750" algn="l" rtl="0">
              <a:spcBef>
                <a:spcPts val="0"/>
              </a:spcBef>
              <a:spcAft>
                <a:spcPts val="0"/>
              </a:spcAft>
              <a:buClr>
                <a:srgbClr val="2F5496"/>
              </a:buClr>
              <a:buSzPts val="2800"/>
              <a:buFont typeface="Arial"/>
              <a:buChar char="•"/>
            </a:pPr>
            <a:r>
              <a:rPr lang="en-IN" sz="2800" dirty="0">
                <a:solidFill>
                  <a:srgbClr val="2F5496"/>
                </a:solidFill>
                <a:latin typeface="Times New Roman"/>
                <a:ea typeface="Times New Roman"/>
                <a:cs typeface="Times New Roman"/>
                <a:sym typeface="Times New Roman"/>
              </a:rPr>
              <a:t>Conclusion</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93" name="Google Shape;93;p2"/>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94"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3"/>
          <p:cNvSpPr txBox="1"/>
          <p:nvPr/>
        </p:nvSpPr>
        <p:spPr>
          <a:xfrm>
            <a:off x="925275" y="566021"/>
            <a:ext cx="10417500" cy="528756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r>
              <a:rPr lang="en-IN" sz="3600" dirty="0">
                <a:solidFill>
                  <a:srgbClr val="2F5496"/>
                </a:solidFill>
                <a:latin typeface="Times New Roman" panose="02020603050405020304" pitchFamily="18" charset="0"/>
                <a:ea typeface="Times New Roman"/>
                <a:cs typeface="Times New Roman" panose="02020603050405020304" pitchFamily="18" charset="0"/>
                <a:sym typeface="Times New Roman"/>
              </a:rPr>
              <a:t>Problem Statement</a:t>
            </a:r>
            <a:endParaRPr sz="3600" dirty="0">
              <a:solidFill>
                <a:srgbClr val="2F549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endParaRPr sz="2800" b="1" dirty="0">
              <a:solidFill>
                <a:srgbClr val="2F5496"/>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00000"/>
              </a:lnSpc>
              <a:spcBef>
                <a:spcPts val="0"/>
              </a:spcBef>
              <a:spcAft>
                <a:spcPts val="0"/>
              </a:spcAft>
              <a:buClr>
                <a:schemeClr val="dk1"/>
              </a:buClr>
              <a:buSzPts val="1100"/>
              <a:buFont typeface="Arial"/>
              <a:buNone/>
            </a:pPr>
            <a:r>
              <a:rPr lang="en-US" sz="2400" dirty="0">
                <a:solidFill>
                  <a:schemeClr val="tx2"/>
                </a:solidFill>
                <a:latin typeface="Times New Roman" panose="02020603050405020304" pitchFamily="18" charset="0"/>
                <a:cs typeface="Times New Roman" panose="02020603050405020304" pitchFamily="18" charset="0"/>
              </a:rPr>
              <a:t>Heart disease is one of the leading causes of death worldwide. Early and accurate detection through diagnostic screening can significantly improve patient survival rates and reduce healthcare costs. This project aims to build machine learning models that predict the presence of heart disease based on patients’ demographic, clinical, and diagnostic test data, enabling healthcare professionals to make timely and informed decisions.</a:t>
            </a:r>
            <a:endParaRPr sz="2400" dirty="0">
              <a:solidFill>
                <a:schemeClr val="tx2"/>
              </a:solidFill>
              <a:latin typeface="Times New Roman" panose="02020603050405020304" pitchFamily="18" charset="0"/>
              <a:ea typeface="Times New Roman"/>
              <a:cs typeface="Times New Roman" panose="02020603050405020304" pitchFamily="18" charset="0"/>
              <a:sym typeface="Times New Roman"/>
            </a:endParaRPr>
          </a:p>
          <a:p>
            <a:pPr marL="0" lvl="0" indent="0" algn="l" rtl="0">
              <a:lnSpc>
                <a:spcPct val="115000"/>
              </a:lnSpc>
              <a:spcBef>
                <a:spcPts val="1200"/>
              </a:spcBef>
              <a:spcAft>
                <a:spcPts val="0"/>
              </a:spcAft>
              <a:buClr>
                <a:schemeClr val="dk1"/>
              </a:buClr>
              <a:buSzPts val="1100"/>
              <a:buFont typeface="Arial"/>
              <a:buNone/>
            </a:pPr>
            <a:endParaRPr sz="2400" dirty="0">
              <a:solidFill>
                <a:srgbClr val="2F549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1200"/>
              </a:spcBef>
              <a:spcAft>
                <a:spcPts val="0"/>
              </a:spcAft>
              <a:buNone/>
            </a:pPr>
            <a:endParaRPr sz="4000" dirty="0">
              <a:solidFill>
                <a:srgbClr val="2F5496"/>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l" rtl="0">
              <a:spcBef>
                <a:spcPts val="0"/>
              </a:spcBef>
              <a:spcAft>
                <a:spcPts val="0"/>
              </a:spcAft>
              <a:buNone/>
            </a:pPr>
            <a:endParaRPr sz="18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pic>
        <p:nvPicPr>
          <p:cNvPr id="99" name="Google Shape;99;p3"/>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00"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4"/>
          <p:cNvSpPr txBox="1"/>
          <p:nvPr/>
        </p:nvSpPr>
        <p:spPr>
          <a:xfrm>
            <a:off x="69324" y="416009"/>
            <a:ext cx="11255400" cy="16927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2800" dirty="0">
                <a:solidFill>
                  <a:srgbClr val="2F5496"/>
                </a:solidFill>
                <a:latin typeface="Times New Roman"/>
                <a:ea typeface="Times New Roman"/>
                <a:cs typeface="Times New Roman"/>
                <a:sym typeface="Times New Roman"/>
              </a:rPr>
              <a:t>   </a:t>
            </a:r>
            <a:r>
              <a:rPr lang="en-IN" sz="3600" dirty="0">
                <a:solidFill>
                  <a:srgbClr val="2F5496"/>
                </a:solidFill>
                <a:latin typeface="Times New Roman"/>
                <a:ea typeface="Times New Roman"/>
                <a:cs typeface="Times New Roman"/>
                <a:sym typeface="Times New Roman"/>
              </a:rPr>
              <a:t>Overview of the Project</a:t>
            </a:r>
            <a:endParaRPr sz="3600" dirty="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2800" dirty="0">
              <a:solidFill>
                <a:srgbClr val="2F5496"/>
              </a:solidFill>
              <a:latin typeface="Times New Roman"/>
              <a:ea typeface="Times New Roman"/>
              <a:cs typeface="Times New Roman"/>
              <a:sym typeface="Times New Roman"/>
            </a:endParaRPr>
          </a:p>
          <a:p>
            <a:pPr marL="457200" marR="0" lvl="0" indent="0" algn="l" rtl="0">
              <a:spcBef>
                <a:spcPts val="0"/>
              </a:spcBef>
              <a:spcAft>
                <a:spcPts val="0"/>
              </a:spcAft>
              <a:buNone/>
            </a:pPr>
            <a:endParaRPr sz="2200" dirty="0">
              <a:solidFill>
                <a:schemeClr val="dk1"/>
              </a:solidFill>
              <a:latin typeface="Times New Roman"/>
              <a:ea typeface="Times New Roman"/>
              <a:cs typeface="Times New Roman"/>
              <a:sym typeface="Times New Roman"/>
            </a:endParaRPr>
          </a:p>
        </p:txBody>
      </p:sp>
      <p:pic>
        <p:nvPicPr>
          <p:cNvPr id="105" name="Google Shape;105;p4"/>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06"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4">
            <a:extLst>
              <a:ext uri="{FF2B5EF4-FFF2-40B4-BE49-F238E27FC236}">
                <a16:creationId xmlns:a16="http://schemas.microsoft.com/office/drawing/2014/main" id="{2A63DEF3-8C0C-6FEC-AB84-EBE55EC75509}"/>
              </a:ext>
            </a:extLst>
          </p:cNvPr>
          <p:cNvSpPr>
            <a:spLocks noChangeArrowheads="1"/>
          </p:cNvSpPr>
          <p:nvPr/>
        </p:nvSpPr>
        <p:spPr bwMode="auto">
          <a:xfrm>
            <a:off x="391776" y="1790998"/>
            <a:ext cx="1079164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Apply supervised machine learning to a binary heart disease classification problem.</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Use the heart disease</a:t>
            </a:r>
            <a:r>
              <a:rPr lang="en-US" altLang="en-US" sz="2400" dirty="0">
                <a:solidFill>
                  <a:schemeClr val="tx2"/>
                </a:solidFill>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dataset, containing 400 patient records and 13 input features.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Predict the target variable heart disease, where 0 means no heart disease and 1 means heart disease.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5"/>
          <p:cNvSpPr txBox="1"/>
          <p:nvPr/>
        </p:nvSpPr>
        <p:spPr>
          <a:xfrm>
            <a:off x="604285" y="304800"/>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2F5496"/>
                </a:solidFill>
                <a:latin typeface="Times New Roman"/>
                <a:ea typeface="Times New Roman"/>
                <a:cs typeface="Times New Roman"/>
                <a:sym typeface="Times New Roman"/>
              </a:rPr>
              <a:t>Data generation &amp; Loading</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11" name="Google Shape;111;p5"/>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12" name="Google Shape;112;p5"/>
          <p:cNvSpPr txBox="1"/>
          <p:nvPr/>
        </p:nvSpPr>
        <p:spPr>
          <a:xfrm>
            <a:off x="66250" y="-965337"/>
            <a:ext cx="10811700" cy="361396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2400" dirty="0">
              <a:solidFill>
                <a:srgbClr val="0C3571"/>
              </a:solidFill>
              <a:latin typeface="Times New Roman"/>
              <a:ea typeface="Times New Roman"/>
              <a:cs typeface="Times New Roman"/>
              <a:sym typeface="Times New Roman"/>
            </a:endParaRPr>
          </a:p>
        </p:txBody>
      </p:sp>
      <p:sp>
        <p:nvSpPr>
          <p:cNvPr id="113"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E6770396-9596-16F4-F20A-7D5BA6C31802}"/>
              </a:ext>
            </a:extLst>
          </p:cNvPr>
          <p:cNvSpPr>
            <a:spLocks noChangeArrowheads="1"/>
          </p:cNvSpPr>
          <p:nvPr/>
        </p:nvSpPr>
        <p:spPr bwMode="auto">
          <a:xfrm rot="10800000" flipV="1">
            <a:off x="604285" y="1863137"/>
            <a:ext cx="1181100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Dataset name: heart disease</a:t>
            </a:r>
            <a:r>
              <a:rPr lang="en-US" altLang="en-US" sz="2400" dirty="0">
                <a:solidFill>
                  <a:schemeClr val="tx2"/>
                </a:solidFill>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dataset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Total records: 400</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Input features: 13</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Target variable: heart disease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Target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0 — No heart disease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1 — Heart disease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p:nvPr/>
        </p:nvSpPr>
        <p:spPr>
          <a:xfrm>
            <a:off x="487325" y="495308"/>
            <a:ext cx="10417628" cy="126188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2F5496"/>
                </a:solidFill>
                <a:latin typeface="Times New Roman"/>
                <a:ea typeface="Times New Roman"/>
                <a:cs typeface="Times New Roman"/>
                <a:sym typeface="Times New Roman"/>
              </a:rPr>
              <a:t>Data Exploration &amp; Understanding</a:t>
            </a:r>
            <a:endParaRPr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18" name="Google Shape;118;p6"/>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20"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3">
            <a:extLst>
              <a:ext uri="{FF2B5EF4-FFF2-40B4-BE49-F238E27FC236}">
                <a16:creationId xmlns:a16="http://schemas.microsoft.com/office/drawing/2014/main" id="{431A9224-60BC-D839-B176-82A152E1255D}"/>
              </a:ext>
            </a:extLst>
          </p:cNvPr>
          <p:cNvSpPr>
            <a:spLocks noChangeArrowheads="1"/>
          </p:cNvSpPr>
          <p:nvPr/>
        </p:nvSpPr>
        <p:spPr bwMode="auto">
          <a:xfrm>
            <a:off x="368832" y="1908739"/>
            <a:ext cx="10726913"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Examined the dataset's structure, dimensions, and data types.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Confirmed 400 records, 13 input features, and one target variable.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Found 222 records with heart disease and 178 records without heart disease.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Identified zero missing values across the 14 columns.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Identified zero duplicate rows.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Used a target count plot, numerical feature histograms, and a correlation heatmap to explore the 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7"/>
          <p:cNvSpPr txBox="1"/>
          <p:nvPr/>
        </p:nvSpPr>
        <p:spPr>
          <a:xfrm>
            <a:off x="533825" y="155513"/>
            <a:ext cx="10417500" cy="1416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1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700" dirty="0">
                <a:solidFill>
                  <a:srgbClr val="2F5496"/>
                </a:solidFill>
                <a:latin typeface="Times New Roman"/>
                <a:ea typeface="Times New Roman"/>
                <a:cs typeface="Times New Roman"/>
                <a:sym typeface="Times New Roman"/>
              </a:rPr>
              <a:t>Exploratory Data Analysis</a:t>
            </a:r>
            <a:endParaRPr sz="2100"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25" name="Google Shape;125;p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27"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94DEC29D-9C1A-9B7D-4347-B95508EF9F79}"/>
              </a:ext>
            </a:extLst>
          </p:cNvPr>
          <p:cNvSpPr>
            <a:spLocks noChangeArrowheads="1"/>
          </p:cNvSpPr>
          <p:nvPr/>
        </p:nvSpPr>
        <p:spPr bwMode="auto">
          <a:xfrm>
            <a:off x="533825" y="1510001"/>
            <a:ext cx="9996928"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Target distribution: Compared the number of positive and negative heart disease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Feature distributions: Used histograms and count plots to understand variable distributions.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Clinical feature comparison: Examined age, cholesterol, resting blood pressure, and maximum heart rate.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Relationships: Used box plots and grouped summaries to explore differences between target classes.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Correlation analysis: Used a heatmap to inspect associations between numerical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Interpretation: Correlation indicates association, not necessarily causation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8"/>
          <p:cNvSpPr txBox="1"/>
          <p:nvPr/>
        </p:nvSpPr>
        <p:spPr>
          <a:xfrm>
            <a:off x="326795" y="274254"/>
            <a:ext cx="10417500" cy="1308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300" dirty="0">
                <a:solidFill>
                  <a:srgbClr val="2F5496"/>
                </a:solidFill>
                <a:latin typeface="Times New Roman"/>
                <a:ea typeface="Times New Roman"/>
                <a:cs typeface="Times New Roman"/>
                <a:sym typeface="Times New Roman"/>
              </a:rPr>
              <a:t>Data Preprocessing &amp; Feature Engineering</a:t>
            </a:r>
            <a:endParaRPr sz="1700" dirty="0"/>
          </a:p>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p:txBody>
      </p:sp>
      <p:pic>
        <p:nvPicPr>
          <p:cNvPr id="132" name="Google Shape;132;p8"/>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34"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2">
            <a:extLst>
              <a:ext uri="{FF2B5EF4-FFF2-40B4-BE49-F238E27FC236}">
                <a16:creationId xmlns:a16="http://schemas.microsoft.com/office/drawing/2014/main" id="{D5795145-6DAB-2494-82D7-82D4D66DAF06}"/>
              </a:ext>
            </a:extLst>
          </p:cNvPr>
          <p:cNvSpPr>
            <a:spLocks noChangeArrowheads="1"/>
          </p:cNvSpPr>
          <p:nvPr/>
        </p:nvSpPr>
        <p:spPr bwMode="auto">
          <a:xfrm>
            <a:off x="414938" y="1719169"/>
            <a:ext cx="10966464"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Checked column names, data types, and target labels.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Verified that the dataset had no missing values or duplicate rows.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Confirmed that the features were already represented numerically.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Split the dataset into training and testing sets using an 80:20 ratio.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Training set: 320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Testing set: 80 records.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Applied feature scaling where required, particularly for Logistic Regression and SVM.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Kept the test set separate for model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9"/>
          <p:cNvSpPr txBox="1"/>
          <p:nvPr/>
        </p:nvSpPr>
        <p:spPr>
          <a:xfrm>
            <a:off x="416236" y="201819"/>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a:solidFill>
                  <a:srgbClr val="2F5496"/>
                </a:solidFill>
                <a:latin typeface="Times New Roman"/>
                <a:ea typeface="Times New Roman"/>
                <a:cs typeface="Times New Roman"/>
                <a:sym typeface="Times New Roman"/>
              </a:rPr>
              <a:t>Model Building &amp; Training</a:t>
            </a:r>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39" name="Google Shape;139;p9"/>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0" name="Google Shape;140;p9"/>
          <p:cNvSpPr txBox="1"/>
          <p:nvPr/>
        </p:nvSpPr>
        <p:spPr>
          <a:xfrm>
            <a:off x="381000" y="1283937"/>
            <a:ext cx="11576100" cy="4985950"/>
          </a:xfrm>
          <a:prstGeom prst="rect">
            <a:avLst/>
          </a:prstGeom>
          <a:noFill/>
          <a:ln>
            <a:noFill/>
          </a:ln>
        </p:spPr>
        <p:txBody>
          <a:bodyPr spcFirstLastPara="1" wrap="square" lIns="91425" tIns="91425" rIns="91425" bIns="91425" anchor="t" anchorCtr="0">
            <a:spAutoFit/>
          </a:bodyPr>
          <a:lstStyle/>
          <a:p>
            <a:r>
              <a:rPr lang="en-US" sz="2400" b="1" dirty="0">
                <a:solidFill>
                  <a:schemeClr val="tx2"/>
                </a:solidFill>
                <a:latin typeface="Times New Roman" panose="02020603050405020304" pitchFamily="18" charset="0"/>
                <a:cs typeface="Times New Roman" panose="02020603050405020304" pitchFamily="18" charset="0"/>
              </a:rPr>
              <a:t>Four algorithms selected for the project</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Logistic Regression: Establishes a baseline for binary classification and estimates class probabilities.</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Decision Tree: Learns decision rules and captures nonlinear relationships.</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Random Forest: Combines multiple decision trees to improve predictive performance and robustness.</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Support Vector Machine (SVM): Finds a decision boundary to separate the two classes.</a:t>
            </a:r>
          </a:p>
          <a:p>
            <a:r>
              <a:rPr lang="en-US" sz="2400" b="1" dirty="0">
                <a:solidFill>
                  <a:schemeClr val="tx2"/>
                </a:solidFill>
                <a:latin typeface="Times New Roman" panose="02020603050405020304" pitchFamily="18" charset="0"/>
                <a:cs typeface="Times New Roman" panose="02020603050405020304" pitchFamily="18" charset="0"/>
              </a:rPr>
              <a:t>Model-building workflow</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Train the models using the training dataset.</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Generate predictions on the test dataset.</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Compare model performance using the same evaluation approach.</a:t>
            </a:r>
          </a:p>
          <a:p>
            <a:pPr>
              <a:buFont typeface="Arial" panose="020B0604020202020204" pitchFamily="34" charset="0"/>
              <a:buChar char="•"/>
            </a:pPr>
            <a:r>
              <a:rPr lang="en-US" sz="2400" dirty="0">
                <a:solidFill>
                  <a:schemeClr val="tx2"/>
                </a:solidFill>
                <a:latin typeface="Times New Roman" panose="02020603050405020304" pitchFamily="18" charset="0"/>
                <a:cs typeface="Times New Roman" panose="02020603050405020304" pitchFamily="18" charset="0"/>
              </a:rPr>
              <a:t>Select a candidate model based on the project objectives and evaluation metrics.</a:t>
            </a:r>
          </a:p>
          <a:p>
            <a:pPr marL="457200" lvl="0" indent="-381000" algn="just" rtl="0">
              <a:lnSpc>
                <a:spcPct val="100000"/>
              </a:lnSpc>
              <a:spcBef>
                <a:spcPts val="0"/>
              </a:spcBef>
              <a:spcAft>
                <a:spcPts val="0"/>
              </a:spcAft>
              <a:buClr>
                <a:srgbClr val="2F5496"/>
              </a:buClr>
              <a:buSzPts val="2400"/>
              <a:buFont typeface="Times New Roman"/>
              <a:buChar char="●"/>
            </a:pPr>
            <a:endParaRPr sz="2400" b="1" dirty="0">
              <a:solidFill>
                <a:srgbClr val="2F5496"/>
              </a:solidFill>
              <a:latin typeface="Times New Roman"/>
              <a:ea typeface="Times New Roman"/>
              <a:cs typeface="Times New Roman"/>
              <a:sym typeface="Times New Roman"/>
            </a:endParaRPr>
          </a:p>
        </p:txBody>
      </p:sp>
      <p:sp>
        <p:nvSpPr>
          <p:cNvPr id="141"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g38cdb4fd196_2_27"/>
          <p:cNvSpPr txBox="1"/>
          <p:nvPr/>
        </p:nvSpPr>
        <p:spPr>
          <a:xfrm>
            <a:off x="381000" y="60500"/>
            <a:ext cx="10417500" cy="1262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chemeClr val="dk1"/>
              </a:solidFill>
              <a:latin typeface="Times New Roman"/>
              <a:ea typeface="Times New Roman"/>
              <a:cs typeface="Times New Roman"/>
              <a:sym typeface="Times New Roman"/>
            </a:endParaRPr>
          </a:p>
          <a:p>
            <a:pPr marL="0" marR="0" lvl="0" indent="0" algn="l" rtl="0">
              <a:spcBef>
                <a:spcPts val="0"/>
              </a:spcBef>
              <a:spcAft>
                <a:spcPts val="0"/>
              </a:spcAft>
              <a:buNone/>
            </a:pPr>
            <a:r>
              <a:rPr lang="en-IN" sz="4000" dirty="0">
                <a:solidFill>
                  <a:srgbClr val="2F5496"/>
                </a:solidFill>
                <a:latin typeface="Times New Roman"/>
                <a:ea typeface="Times New Roman"/>
                <a:cs typeface="Times New Roman"/>
                <a:sym typeface="Times New Roman"/>
              </a:rPr>
              <a:t>Model Evaluation &amp; Performance Analysis</a:t>
            </a:r>
            <a:endParaRPr dirty="0"/>
          </a:p>
          <a:p>
            <a:pPr marL="0" marR="0" lvl="0" indent="0" algn="l" rtl="0">
              <a:spcBef>
                <a:spcPts val="0"/>
              </a:spcBef>
              <a:spcAft>
                <a:spcPts val="0"/>
              </a:spcAft>
              <a:buNone/>
            </a:pPr>
            <a:r>
              <a:rPr lang="en-IN" sz="1800" dirty="0">
                <a:solidFill>
                  <a:schemeClr val="dk1"/>
                </a:solidFill>
                <a:latin typeface="Times New Roman"/>
                <a:ea typeface="Times New Roman"/>
                <a:cs typeface="Times New Roman"/>
                <a:sym typeface="Times New Roman"/>
              </a:rPr>
              <a:t> </a:t>
            </a:r>
            <a:endParaRPr sz="1800" dirty="0">
              <a:solidFill>
                <a:schemeClr val="dk1"/>
              </a:solidFill>
              <a:latin typeface="Times New Roman"/>
              <a:ea typeface="Times New Roman"/>
              <a:cs typeface="Times New Roman"/>
              <a:sym typeface="Times New Roman"/>
            </a:endParaRPr>
          </a:p>
        </p:txBody>
      </p:sp>
      <p:pic>
        <p:nvPicPr>
          <p:cNvPr id="146" name="Google Shape;146;g38cdb4fd196_2_27"/>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48"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2" name="Table 1">
            <a:extLst>
              <a:ext uri="{FF2B5EF4-FFF2-40B4-BE49-F238E27FC236}">
                <a16:creationId xmlns:a16="http://schemas.microsoft.com/office/drawing/2014/main" id="{BD2E57E5-7882-937E-BD49-7C6AC7145F0C}"/>
              </a:ext>
            </a:extLst>
          </p:cNvPr>
          <p:cNvGraphicFramePr>
            <a:graphicFrameLocks noGrp="1"/>
          </p:cNvGraphicFramePr>
          <p:nvPr>
            <p:extLst>
              <p:ext uri="{D42A27DB-BD31-4B8C-83A1-F6EECF244321}">
                <p14:modId xmlns:p14="http://schemas.microsoft.com/office/powerpoint/2010/main" val="2374888678"/>
              </p:ext>
            </p:extLst>
          </p:nvPr>
        </p:nvGraphicFramePr>
        <p:xfrm>
          <a:off x="599995" y="3429000"/>
          <a:ext cx="10515600" cy="2194560"/>
        </p:xfrm>
        <a:graphic>
          <a:graphicData uri="http://schemas.openxmlformats.org/drawingml/2006/table">
            <a:tbl>
              <a:tblPr/>
              <a:tblGrid>
                <a:gridCol w="2103120">
                  <a:extLst>
                    <a:ext uri="{9D8B030D-6E8A-4147-A177-3AD203B41FA5}">
                      <a16:colId xmlns:a16="http://schemas.microsoft.com/office/drawing/2014/main" val="2020837975"/>
                    </a:ext>
                  </a:extLst>
                </a:gridCol>
                <a:gridCol w="2103120">
                  <a:extLst>
                    <a:ext uri="{9D8B030D-6E8A-4147-A177-3AD203B41FA5}">
                      <a16:colId xmlns:a16="http://schemas.microsoft.com/office/drawing/2014/main" val="1851105568"/>
                    </a:ext>
                  </a:extLst>
                </a:gridCol>
                <a:gridCol w="2103120">
                  <a:extLst>
                    <a:ext uri="{9D8B030D-6E8A-4147-A177-3AD203B41FA5}">
                      <a16:colId xmlns:a16="http://schemas.microsoft.com/office/drawing/2014/main" val="4143105759"/>
                    </a:ext>
                  </a:extLst>
                </a:gridCol>
                <a:gridCol w="2103120">
                  <a:extLst>
                    <a:ext uri="{9D8B030D-6E8A-4147-A177-3AD203B41FA5}">
                      <a16:colId xmlns:a16="http://schemas.microsoft.com/office/drawing/2014/main" val="439252385"/>
                    </a:ext>
                  </a:extLst>
                </a:gridCol>
                <a:gridCol w="2103120">
                  <a:extLst>
                    <a:ext uri="{9D8B030D-6E8A-4147-A177-3AD203B41FA5}">
                      <a16:colId xmlns:a16="http://schemas.microsoft.com/office/drawing/2014/main" val="3048771839"/>
                    </a:ext>
                  </a:extLst>
                </a:gridCol>
              </a:tblGrid>
              <a:tr h="0">
                <a:tc>
                  <a:txBody>
                    <a:bodyPr/>
                    <a:lstStyle/>
                    <a:p>
                      <a:r>
                        <a:rPr lang="en-IN" sz="2400">
                          <a:solidFill>
                            <a:schemeClr val="tx2"/>
                          </a:solidFill>
                          <a:latin typeface="Times New Roman" panose="02020603050405020304" pitchFamily="18" charset="0"/>
                          <a:cs typeface="Times New Roman" panose="02020603050405020304" pitchFamily="18" charset="0"/>
                        </a:rPr>
                        <a:t>Model</a:t>
                      </a:r>
                    </a:p>
                  </a:txBody>
                  <a:tcPr anchor="ctr">
                    <a:lnL>
                      <a:noFill/>
                    </a:lnL>
                    <a:lnR>
                      <a:noFill/>
                    </a:lnR>
                    <a:lnT>
                      <a:noFill/>
                    </a:lnT>
                    <a:lnB>
                      <a:noFill/>
                    </a:lnB>
                    <a:noFill/>
                  </a:tcPr>
                </a:tc>
                <a:tc>
                  <a:txBody>
                    <a:bodyPr/>
                    <a:lstStyle/>
                    <a:p>
                      <a:r>
                        <a:rPr lang="en-IN" sz="2400" dirty="0">
                          <a:solidFill>
                            <a:schemeClr val="tx2"/>
                          </a:solidFill>
                          <a:latin typeface="Times New Roman" panose="02020603050405020304" pitchFamily="18" charset="0"/>
                          <a:cs typeface="Times New Roman" panose="02020603050405020304" pitchFamily="18" charset="0"/>
                        </a:rPr>
                        <a:t>Accuracy</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Precision</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Recall</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F1-score</a:t>
                      </a:r>
                    </a:p>
                  </a:txBody>
                  <a:tcPr anchor="ctr">
                    <a:lnL>
                      <a:noFill/>
                    </a:lnL>
                    <a:lnR>
                      <a:noFill/>
                    </a:lnR>
                    <a:lnT>
                      <a:noFill/>
                    </a:lnT>
                    <a:lnB>
                      <a:noFill/>
                    </a:lnB>
                    <a:noFill/>
                  </a:tcPr>
                </a:tc>
                <a:extLst>
                  <a:ext uri="{0D108BD9-81ED-4DB2-BD59-A6C34878D82A}">
                    <a16:rowId xmlns:a16="http://schemas.microsoft.com/office/drawing/2014/main" val="3508744020"/>
                  </a:ext>
                </a:extLst>
              </a:tr>
              <a:tr h="0">
                <a:tc>
                  <a:txBody>
                    <a:bodyPr/>
                    <a:lstStyle/>
                    <a:p>
                      <a:r>
                        <a:rPr lang="en-IN" sz="2400">
                          <a:solidFill>
                            <a:schemeClr val="tx2"/>
                          </a:solidFill>
                          <a:latin typeface="Times New Roman" panose="02020603050405020304" pitchFamily="18" charset="0"/>
                          <a:cs typeface="Times New Roman" panose="02020603050405020304" pitchFamily="18" charset="0"/>
                        </a:rPr>
                        <a:t>Random Forest</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68.8%</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69.4%</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77.3%</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73.1%</a:t>
                      </a:r>
                    </a:p>
                  </a:txBody>
                  <a:tcPr anchor="ctr">
                    <a:lnL>
                      <a:noFill/>
                    </a:lnL>
                    <a:lnR>
                      <a:noFill/>
                    </a:lnR>
                    <a:lnT>
                      <a:noFill/>
                    </a:lnT>
                    <a:lnB>
                      <a:noFill/>
                    </a:lnB>
                    <a:noFill/>
                  </a:tcPr>
                </a:tc>
                <a:extLst>
                  <a:ext uri="{0D108BD9-81ED-4DB2-BD59-A6C34878D82A}">
                    <a16:rowId xmlns:a16="http://schemas.microsoft.com/office/drawing/2014/main" val="4221830004"/>
                  </a:ext>
                </a:extLst>
              </a:tr>
              <a:tr h="0">
                <a:tc>
                  <a:txBody>
                    <a:bodyPr/>
                    <a:lstStyle/>
                    <a:p>
                      <a:r>
                        <a:rPr lang="en-IN" sz="2400">
                          <a:solidFill>
                            <a:schemeClr val="tx2"/>
                          </a:solidFill>
                          <a:latin typeface="Times New Roman" panose="02020603050405020304" pitchFamily="18" charset="0"/>
                          <a:cs typeface="Times New Roman" panose="02020603050405020304" pitchFamily="18" charset="0"/>
                        </a:rPr>
                        <a:t>Logistic Regression</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67.5%</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69.6%</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72.7%</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71.1%</a:t>
                      </a:r>
                    </a:p>
                  </a:txBody>
                  <a:tcPr anchor="ctr">
                    <a:lnL>
                      <a:noFill/>
                    </a:lnL>
                    <a:lnR>
                      <a:noFill/>
                    </a:lnR>
                    <a:lnT>
                      <a:noFill/>
                    </a:lnT>
                    <a:lnB>
                      <a:noFill/>
                    </a:lnB>
                    <a:noFill/>
                  </a:tcPr>
                </a:tc>
                <a:extLst>
                  <a:ext uri="{0D108BD9-81ED-4DB2-BD59-A6C34878D82A}">
                    <a16:rowId xmlns:a16="http://schemas.microsoft.com/office/drawing/2014/main" val="4267153878"/>
                  </a:ext>
                </a:extLst>
              </a:tr>
              <a:tr h="0">
                <a:tc>
                  <a:txBody>
                    <a:bodyPr/>
                    <a:lstStyle/>
                    <a:p>
                      <a:r>
                        <a:rPr lang="en-IN" sz="2400">
                          <a:solidFill>
                            <a:schemeClr val="tx2"/>
                          </a:solidFill>
                          <a:latin typeface="Times New Roman" panose="02020603050405020304" pitchFamily="18" charset="0"/>
                          <a:cs typeface="Times New Roman" panose="02020603050405020304" pitchFamily="18" charset="0"/>
                        </a:rPr>
                        <a:t>Decision Tree</a:t>
                      </a:r>
                    </a:p>
                  </a:txBody>
                  <a:tcPr anchor="ctr">
                    <a:lnL>
                      <a:noFill/>
                    </a:lnL>
                    <a:lnR>
                      <a:noFill/>
                    </a:lnR>
                    <a:lnT>
                      <a:noFill/>
                    </a:lnT>
                    <a:lnB>
                      <a:noFill/>
                    </a:lnB>
                    <a:noFill/>
                  </a:tcPr>
                </a:tc>
                <a:tc>
                  <a:txBody>
                    <a:bodyPr/>
                    <a:lstStyle/>
                    <a:p>
                      <a:r>
                        <a:rPr lang="en-IN" sz="2400" dirty="0">
                          <a:solidFill>
                            <a:schemeClr val="tx2"/>
                          </a:solidFill>
                          <a:latin typeface="Times New Roman" panose="02020603050405020304" pitchFamily="18" charset="0"/>
                          <a:cs typeface="Times New Roman" panose="02020603050405020304" pitchFamily="18" charset="0"/>
                        </a:rPr>
                        <a:t>58.8%</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61.2%</a:t>
                      </a:r>
                    </a:p>
                  </a:txBody>
                  <a:tcPr anchor="ctr">
                    <a:lnL>
                      <a:noFill/>
                    </a:lnL>
                    <a:lnR>
                      <a:noFill/>
                    </a:lnR>
                    <a:lnT>
                      <a:noFill/>
                    </a:lnT>
                    <a:lnB>
                      <a:noFill/>
                    </a:lnB>
                    <a:noFill/>
                  </a:tcPr>
                </a:tc>
                <a:tc>
                  <a:txBody>
                    <a:bodyPr/>
                    <a:lstStyle/>
                    <a:p>
                      <a:r>
                        <a:rPr lang="en-IN" sz="2400">
                          <a:solidFill>
                            <a:schemeClr val="tx2"/>
                          </a:solidFill>
                          <a:latin typeface="Times New Roman" panose="02020603050405020304" pitchFamily="18" charset="0"/>
                          <a:cs typeface="Times New Roman" panose="02020603050405020304" pitchFamily="18" charset="0"/>
                        </a:rPr>
                        <a:t>68.2%</a:t>
                      </a:r>
                    </a:p>
                  </a:txBody>
                  <a:tcPr anchor="ctr">
                    <a:lnL>
                      <a:noFill/>
                    </a:lnL>
                    <a:lnR>
                      <a:noFill/>
                    </a:lnR>
                    <a:lnT>
                      <a:noFill/>
                    </a:lnT>
                    <a:lnB>
                      <a:noFill/>
                    </a:lnB>
                    <a:noFill/>
                  </a:tcPr>
                </a:tc>
                <a:tc>
                  <a:txBody>
                    <a:bodyPr/>
                    <a:lstStyle/>
                    <a:p>
                      <a:r>
                        <a:rPr lang="en-IN" sz="2400" dirty="0">
                          <a:solidFill>
                            <a:schemeClr val="tx2"/>
                          </a:solidFill>
                          <a:latin typeface="Times New Roman" panose="02020603050405020304" pitchFamily="18" charset="0"/>
                          <a:cs typeface="Times New Roman" panose="02020603050405020304" pitchFamily="18" charset="0"/>
                        </a:rPr>
                        <a:t>64.5%</a:t>
                      </a:r>
                    </a:p>
                  </a:txBody>
                  <a:tcPr anchor="ctr">
                    <a:lnL>
                      <a:noFill/>
                    </a:lnL>
                    <a:lnR>
                      <a:noFill/>
                    </a:lnR>
                    <a:lnT>
                      <a:noFill/>
                    </a:lnT>
                    <a:lnB>
                      <a:noFill/>
                    </a:lnB>
                    <a:noFill/>
                  </a:tcPr>
                </a:tc>
                <a:extLst>
                  <a:ext uri="{0D108BD9-81ED-4DB2-BD59-A6C34878D82A}">
                    <a16:rowId xmlns:a16="http://schemas.microsoft.com/office/drawing/2014/main" val="71067839"/>
                  </a:ext>
                </a:extLst>
              </a:tr>
            </a:tbl>
          </a:graphicData>
        </a:graphic>
      </p:graphicFrame>
      <p:sp>
        <p:nvSpPr>
          <p:cNvPr id="5" name="Rectangle 2">
            <a:extLst>
              <a:ext uri="{FF2B5EF4-FFF2-40B4-BE49-F238E27FC236}">
                <a16:creationId xmlns:a16="http://schemas.microsoft.com/office/drawing/2014/main" id="{01418A5C-E813-1C79-6FAB-C6492A4958D1}"/>
              </a:ext>
            </a:extLst>
          </p:cNvPr>
          <p:cNvSpPr>
            <a:spLocks noChangeArrowheads="1"/>
          </p:cNvSpPr>
          <p:nvPr/>
        </p:nvSpPr>
        <p:spPr bwMode="auto">
          <a:xfrm>
            <a:off x="445675" y="1487606"/>
            <a:ext cx="105156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Evaluated the models using Accuracy, Precision, Recall, and F1-score.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Generated confusion matrices and classification reports for the evaluated models.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Prioritized Recall because missing a potential heart disease case is an important concern in screening.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2"/>
          <p:cNvSpPr txBox="1"/>
          <p:nvPr/>
        </p:nvSpPr>
        <p:spPr>
          <a:xfrm>
            <a:off x="381000" y="304800"/>
            <a:ext cx="10417500" cy="1825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dirty="0">
              <a:solidFill>
                <a:srgbClr val="2F5496"/>
              </a:solidFill>
              <a:latin typeface="Times New Roman"/>
              <a:ea typeface="Times New Roman"/>
              <a:cs typeface="Times New Roman"/>
              <a:sym typeface="Times New Roman"/>
            </a:endParaRPr>
          </a:p>
          <a:p>
            <a:pPr marL="0" lvl="0" indent="0" algn="l" rtl="0">
              <a:spcBef>
                <a:spcPts val="0"/>
              </a:spcBef>
              <a:spcAft>
                <a:spcPts val="0"/>
              </a:spcAft>
              <a:buClr>
                <a:schemeClr val="dk1"/>
              </a:buClr>
              <a:buFont typeface="Arial"/>
              <a:buNone/>
            </a:pPr>
            <a:r>
              <a:rPr lang="en-IN" sz="3600" dirty="0">
                <a:solidFill>
                  <a:srgbClr val="2F5496"/>
                </a:solidFill>
                <a:latin typeface="Times New Roman"/>
                <a:ea typeface="Times New Roman"/>
                <a:cs typeface="Times New Roman"/>
                <a:sym typeface="Times New Roman"/>
              </a:rPr>
              <a:t>Stream API Deployment (Streamlit)</a:t>
            </a:r>
            <a:endParaRPr sz="3600" dirty="0">
              <a:solidFill>
                <a:srgbClr val="2F5496"/>
              </a:solidFill>
              <a:latin typeface="Times New Roman"/>
              <a:ea typeface="Times New Roman"/>
              <a:cs typeface="Times New Roman"/>
              <a:sym typeface="Times New Roman"/>
            </a:endParaRPr>
          </a:p>
          <a:p>
            <a:pPr marL="0" lvl="0" indent="0" algn="l" rtl="0">
              <a:lnSpc>
                <a:spcPct val="115000"/>
              </a:lnSpc>
              <a:spcBef>
                <a:spcPts val="1400"/>
              </a:spcBef>
              <a:spcAft>
                <a:spcPts val="0"/>
              </a:spcAft>
              <a:buClr>
                <a:schemeClr val="dk1"/>
              </a:buClr>
              <a:buSzPts val="1100"/>
              <a:buFont typeface="Arial"/>
              <a:buNone/>
            </a:pPr>
            <a:endParaRPr lang="en-IN" sz="1300" b="1" dirty="0">
              <a:solidFill>
                <a:srgbClr val="2F5496"/>
              </a:solidFill>
            </a:endParaRPr>
          </a:p>
          <a:p>
            <a:pPr marL="0" lvl="0" indent="0" algn="l" rtl="0">
              <a:spcBef>
                <a:spcPts val="1200"/>
              </a:spcBef>
              <a:spcAft>
                <a:spcPts val="0"/>
              </a:spcAft>
              <a:buNone/>
            </a:pPr>
            <a:endParaRPr sz="2200" dirty="0">
              <a:solidFill>
                <a:srgbClr val="2F5496"/>
              </a:solidFill>
              <a:latin typeface="Times New Roman"/>
              <a:ea typeface="Times New Roman"/>
              <a:cs typeface="Times New Roman"/>
              <a:sym typeface="Times New Roman"/>
            </a:endParaRPr>
          </a:p>
        </p:txBody>
      </p:sp>
      <p:pic>
        <p:nvPicPr>
          <p:cNvPr id="153" name="Google Shape;153;p12"/>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54"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599278CB-D3E6-929D-0769-9270CC69C89D}"/>
              </a:ext>
            </a:extLst>
          </p:cNvPr>
          <p:cNvSpPr>
            <a:spLocks noChangeArrowheads="1"/>
          </p:cNvSpPr>
          <p:nvPr/>
        </p:nvSpPr>
        <p:spPr bwMode="auto">
          <a:xfrm>
            <a:off x="453359" y="1724059"/>
            <a:ext cx="7864653"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Develop an interactive web application using Streamlit.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Load the trained heart disease classification model.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Provide input fields for the 13 patient features.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Preprocess user inputs before prediction.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Predict the presence or absence of heart disease.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Display the prediction results through a simple user interface.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1"/>
          <p:cNvSpPr txBox="1"/>
          <p:nvPr/>
        </p:nvSpPr>
        <p:spPr>
          <a:xfrm>
            <a:off x="925286" y="566057"/>
            <a:ext cx="10417500" cy="4481186"/>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None/>
            </a:pPr>
            <a:endParaRPr sz="2200" dirty="0">
              <a:solidFill>
                <a:srgbClr val="2F5496"/>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None/>
            </a:pPr>
            <a:r>
              <a:rPr lang="en-IN" sz="2800" dirty="0">
                <a:solidFill>
                  <a:srgbClr val="2F5496"/>
                </a:solidFill>
                <a:latin typeface="Times New Roman"/>
                <a:ea typeface="Times New Roman"/>
                <a:cs typeface="Times New Roman"/>
                <a:sym typeface="Times New Roman"/>
              </a:rPr>
              <a:t>Docker Deployment </a:t>
            </a:r>
            <a:endParaRPr sz="2800" dirty="0">
              <a:solidFill>
                <a:srgbClr val="2F5496"/>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None/>
            </a:pPr>
            <a:endParaRPr sz="2200" dirty="0">
              <a:solidFill>
                <a:srgbClr val="2F5496"/>
              </a:solidFill>
              <a:latin typeface="Times New Roman"/>
              <a:ea typeface="Times New Roman"/>
              <a:cs typeface="Times New Roman"/>
              <a:sym typeface="Times New Roman"/>
            </a:endParaRPr>
          </a:p>
          <a:p>
            <a:pPr marL="457200" lvl="0" indent="-438150" algn="just" rtl="0">
              <a:lnSpc>
                <a:spcPct val="115000"/>
              </a:lnSpc>
              <a:spcBef>
                <a:spcPts val="0"/>
              </a:spcBef>
              <a:spcAft>
                <a:spcPts val="0"/>
              </a:spcAft>
              <a:buClr>
                <a:srgbClr val="2F5496"/>
              </a:buClr>
              <a:buSzPts val="3300"/>
              <a:buFont typeface="Times New Roman"/>
              <a:buChar char="●"/>
            </a:pPr>
            <a:r>
              <a:rPr lang="en-IN" sz="2200" b="1" dirty="0">
                <a:solidFill>
                  <a:srgbClr val="2F5496"/>
                </a:solidFill>
                <a:latin typeface="Times New Roman"/>
                <a:ea typeface="Times New Roman"/>
                <a:cs typeface="Times New Roman"/>
                <a:sym typeface="Times New Roman"/>
              </a:rPr>
              <a:t>Create a </a:t>
            </a:r>
            <a:r>
              <a:rPr lang="en-IN" sz="2200" b="1" dirty="0" err="1">
                <a:solidFill>
                  <a:srgbClr val="2F5496"/>
                </a:solidFill>
                <a:latin typeface="Times New Roman"/>
                <a:ea typeface="Times New Roman"/>
                <a:cs typeface="Times New Roman"/>
                <a:sym typeface="Times New Roman"/>
              </a:rPr>
              <a:t>Dockerfile</a:t>
            </a:r>
            <a:r>
              <a:rPr lang="en-IN" sz="2200" dirty="0">
                <a:solidFill>
                  <a:srgbClr val="2F5496"/>
                </a:solidFill>
                <a:latin typeface="Times New Roman"/>
                <a:ea typeface="Times New Roman"/>
                <a:cs typeface="Times New Roman"/>
                <a:sym typeface="Times New Roman"/>
              </a:rPr>
              <a:t> – Define the environment and instructions to containerize the Fast API.</a:t>
            </a:r>
            <a:endParaRPr sz="2200" dirty="0">
              <a:solidFill>
                <a:srgbClr val="2F5496"/>
              </a:solidFill>
              <a:latin typeface="Times New Roman"/>
              <a:ea typeface="Times New Roman"/>
              <a:cs typeface="Times New Roman"/>
              <a:sym typeface="Times New Roman"/>
            </a:endParaRPr>
          </a:p>
          <a:p>
            <a:pPr marL="457200" lvl="0" indent="-438150" algn="just" rtl="0">
              <a:lnSpc>
                <a:spcPct val="115000"/>
              </a:lnSpc>
              <a:spcBef>
                <a:spcPts val="0"/>
              </a:spcBef>
              <a:spcAft>
                <a:spcPts val="0"/>
              </a:spcAft>
              <a:buClr>
                <a:srgbClr val="2F5496"/>
              </a:buClr>
              <a:buSzPts val="3300"/>
              <a:buFont typeface="Times New Roman"/>
              <a:buChar char="●"/>
            </a:pPr>
            <a:r>
              <a:rPr lang="en-IN" sz="2200" b="1" dirty="0">
                <a:solidFill>
                  <a:srgbClr val="2F5496"/>
                </a:solidFill>
                <a:latin typeface="Times New Roman"/>
                <a:ea typeface="Times New Roman"/>
                <a:cs typeface="Times New Roman"/>
                <a:sym typeface="Times New Roman"/>
              </a:rPr>
              <a:t>Prepare requirements.txt</a:t>
            </a:r>
            <a:r>
              <a:rPr lang="en-IN" sz="2200" dirty="0">
                <a:solidFill>
                  <a:srgbClr val="2F5496"/>
                </a:solidFill>
                <a:latin typeface="Times New Roman"/>
                <a:ea typeface="Times New Roman"/>
                <a:cs typeface="Times New Roman"/>
                <a:sym typeface="Times New Roman"/>
              </a:rPr>
              <a:t> – List all necessary dependencies for the application.</a:t>
            </a:r>
            <a:br>
              <a:rPr lang="en-IN" sz="2200" dirty="0">
                <a:solidFill>
                  <a:srgbClr val="2F5496"/>
                </a:solidFill>
                <a:latin typeface="Times New Roman"/>
                <a:ea typeface="Times New Roman"/>
                <a:cs typeface="Times New Roman"/>
                <a:sym typeface="Times New Roman"/>
              </a:rPr>
            </a:br>
            <a:endParaRPr sz="2200" dirty="0">
              <a:solidFill>
                <a:srgbClr val="2F5496"/>
              </a:solidFill>
              <a:latin typeface="Times New Roman"/>
              <a:ea typeface="Times New Roman"/>
              <a:cs typeface="Times New Roman"/>
              <a:sym typeface="Times New Roman"/>
            </a:endParaRPr>
          </a:p>
          <a:p>
            <a:pPr marL="457200" lvl="0" indent="-438150" algn="just" rtl="0">
              <a:lnSpc>
                <a:spcPct val="115000"/>
              </a:lnSpc>
              <a:spcBef>
                <a:spcPts val="0"/>
              </a:spcBef>
              <a:spcAft>
                <a:spcPts val="0"/>
              </a:spcAft>
              <a:buClr>
                <a:srgbClr val="2F5496"/>
              </a:buClr>
              <a:buSzPts val="3300"/>
              <a:buFont typeface="Times New Roman"/>
              <a:buChar char="●"/>
            </a:pPr>
            <a:r>
              <a:rPr lang="en-IN" sz="2200" b="1" dirty="0">
                <a:solidFill>
                  <a:srgbClr val="2F5496"/>
                </a:solidFill>
                <a:latin typeface="Times New Roman"/>
                <a:ea typeface="Times New Roman"/>
                <a:cs typeface="Times New Roman"/>
                <a:sym typeface="Times New Roman"/>
              </a:rPr>
              <a:t>Set up docker-</a:t>
            </a:r>
            <a:r>
              <a:rPr lang="en-IN" sz="2200" b="1" dirty="0" err="1">
                <a:solidFill>
                  <a:srgbClr val="2F5496"/>
                </a:solidFill>
                <a:latin typeface="Times New Roman"/>
                <a:ea typeface="Times New Roman"/>
                <a:cs typeface="Times New Roman"/>
                <a:sym typeface="Times New Roman"/>
              </a:rPr>
              <a:t>compose.yml</a:t>
            </a:r>
            <a:r>
              <a:rPr lang="en-IN" sz="2200" dirty="0">
                <a:solidFill>
                  <a:srgbClr val="2F5496"/>
                </a:solidFill>
                <a:latin typeface="Times New Roman"/>
                <a:ea typeface="Times New Roman"/>
                <a:cs typeface="Times New Roman"/>
                <a:sym typeface="Times New Roman"/>
              </a:rPr>
              <a:t> – Enable multi-service deployment and orchestration.</a:t>
            </a:r>
            <a:br>
              <a:rPr lang="en-IN" sz="2200" dirty="0">
                <a:solidFill>
                  <a:srgbClr val="2F5496"/>
                </a:solidFill>
                <a:latin typeface="Times New Roman"/>
                <a:ea typeface="Times New Roman"/>
                <a:cs typeface="Times New Roman"/>
                <a:sym typeface="Times New Roman"/>
              </a:rPr>
            </a:br>
            <a:endParaRPr sz="2200" dirty="0">
              <a:solidFill>
                <a:srgbClr val="2F5496"/>
              </a:solidFill>
              <a:latin typeface="Times New Roman"/>
              <a:ea typeface="Times New Roman"/>
              <a:cs typeface="Times New Roman"/>
              <a:sym typeface="Times New Roman"/>
            </a:endParaRPr>
          </a:p>
          <a:p>
            <a:pPr marL="457200" lvl="0" indent="-438150" algn="just" rtl="0">
              <a:lnSpc>
                <a:spcPct val="115000"/>
              </a:lnSpc>
              <a:spcBef>
                <a:spcPts val="0"/>
              </a:spcBef>
              <a:spcAft>
                <a:spcPts val="0"/>
              </a:spcAft>
              <a:buClr>
                <a:srgbClr val="2F5496"/>
              </a:buClr>
              <a:buSzPts val="3300"/>
              <a:buFont typeface="Times New Roman"/>
              <a:buChar char="●"/>
            </a:pPr>
            <a:r>
              <a:rPr lang="en-IN" sz="2200" b="1" dirty="0">
                <a:solidFill>
                  <a:srgbClr val="2F5496"/>
                </a:solidFill>
                <a:latin typeface="Times New Roman"/>
                <a:ea typeface="Times New Roman"/>
                <a:cs typeface="Times New Roman"/>
                <a:sym typeface="Times New Roman"/>
              </a:rPr>
              <a:t>Add .</a:t>
            </a:r>
            <a:r>
              <a:rPr lang="en-IN" sz="2200" b="1" dirty="0" err="1">
                <a:solidFill>
                  <a:srgbClr val="2F5496"/>
                </a:solidFill>
                <a:latin typeface="Times New Roman"/>
                <a:ea typeface="Times New Roman"/>
                <a:cs typeface="Times New Roman"/>
                <a:sym typeface="Times New Roman"/>
              </a:rPr>
              <a:t>dockerignore</a:t>
            </a:r>
            <a:r>
              <a:rPr lang="en-IN" sz="2200" dirty="0">
                <a:solidFill>
                  <a:srgbClr val="2F5496"/>
                </a:solidFill>
                <a:latin typeface="Times New Roman"/>
                <a:ea typeface="Times New Roman"/>
                <a:cs typeface="Times New Roman"/>
                <a:sym typeface="Times New Roman"/>
              </a:rPr>
              <a:t> – Exclude unnecessary files to optimize the Docker build.</a:t>
            </a:r>
            <a:endParaRPr sz="2200" dirty="0">
              <a:solidFill>
                <a:srgbClr val="2F5496"/>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endParaRPr sz="2200" dirty="0">
              <a:solidFill>
                <a:srgbClr val="2F5496"/>
              </a:solidFill>
              <a:latin typeface="Times New Roman"/>
              <a:ea typeface="Times New Roman"/>
              <a:cs typeface="Times New Roman"/>
              <a:sym typeface="Times New Roman"/>
            </a:endParaRPr>
          </a:p>
        </p:txBody>
      </p:sp>
      <p:pic>
        <p:nvPicPr>
          <p:cNvPr id="159" name="Google Shape;159;p11"/>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60"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3"/>
          <p:cNvSpPr txBox="1"/>
          <p:nvPr/>
        </p:nvSpPr>
        <p:spPr>
          <a:xfrm>
            <a:off x="604285" y="456892"/>
            <a:ext cx="10417500" cy="107717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600" dirty="0">
                <a:solidFill>
                  <a:srgbClr val="2F5496"/>
                </a:solidFill>
                <a:latin typeface="Times New Roman"/>
                <a:ea typeface="Times New Roman"/>
                <a:cs typeface="Times New Roman"/>
                <a:sym typeface="Times New Roman"/>
              </a:rPr>
              <a:t>Conclusion</a:t>
            </a:r>
            <a:endParaRPr sz="3600" dirty="0">
              <a:solidFill>
                <a:srgbClr val="2F5496"/>
              </a:solidFill>
              <a:latin typeface="Times New Roman"/>
              <a:ea typeface="Times New Roman"/>
              <a:cs typeface="Times New Roman"/>
              <a:sym typeface="Times New Roman"/>
            </a:endParaRPr>
          </a:p>
          <a:p>
            <a:pPr marL="0" marR="0" lvl="0" indent="0" algn="l" rtl="0">
              <a:spcBef>
                <a:spcPts val="1200"/>
              </a:spcBef>
              <a:spcAft>
                <a:spcPts val="0"/>
              </a:spcAft>
              <a:buNone/>
            </a:pPr>
            <a:endParaRPr sz="1800" dirty="0">
              <a:solidFill>
                <a:srgbClr val="2F5496"/>
              </a:solidFill>
              <a:latin typeface="Times New Roman"/>
              <a:ea typeface="Times New Roman"/>
              <a:cs typeface="Times New Roman"/>
              <a:sym typeface="Times New Roman"/>
            </a:endParaRPr>
          </a:p>
        </p:txBody>
      </p:sp>
      <p:pic>
        <p:nvPicPr>
          <p:cNvPr id="165" name="Google Shape;165;p13"/>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66"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1">
            <a:extLst>
              <a:ext uri="{FF2B5EF4-FFF2-40B4-BE49-F238E27FC236}">
                <a16:creationId xmlns:a16="http://schemas.microsoft.com/office/drawing/2014/main" id="{7FD46FA4-E81B-323D-CBCD-676636AA9B80}"/>
              </a:ext>
            </a:extLst>
          </p:cNvPr>
          <p:cNvSpPr>
            <a:spLocks noChangeArrowheads="1"/>
          </p:cNvSpPr>
          <p:nvPr/>
        </p:nvSpPr>
        <p:spPr bwMode="auto">
          <a:xfrm>
            <a:off x="660889" y="1512806"/>
            <a:ext cx="1058091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400" b="0" i="0" u="none" strike="noStrike" cap="none" normalizeH="0" baseline="0" dirty="0">
                <a:ln>
                  <a:noFill/>
                </a:ln>
                <a:solidFill>
                  <a:schemeClr val="tx2"/>
                </a:solidFill>
                <a:effectLst/>
                <a:latin typeface="Times New Roman" panose="02020603050405020304" pitchFamily="18" charset="0"/>
                <a:cs typeface="Times New Roman" panose="02020603050405020304" pitchFamily="18" charset="0"/>
              </a:rPr>
              <a:t>The project applied supervised machine learning to a heart disease classification problem. The dataset contained 400 records, 13 input features, and one binary target variable. Data checks found no missing values or duplicate rows. Random Forest achieved the best recorded F1-score of 0.731 and Recall of 0.773.Logistic Regression also showed competitive performance, while Decision Tree achieved lower scores on the test set. SVM evaluation, ROC-AUC, Specificity, and deployment documentation remain outstanding. Further testing and validation are necessary before considering any real-world clinical application.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14"/>
          <p:cNvSpPr txBox="1"/>
          <p:nvPr/>
        </p:nvSpPr>
        <p:spPr>
          <a:xfrm>
            <a:off x="903457" y="673906"/>
            <a:ext cx="10385100" cy="249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a:p>
            <a:pPr marL="0" marR="0" lvl="0" indent="0" algn="ctr" rtl="0">
              <a:spcBef>
                <a:spcPts val="0"/>
              </a:spcBef>
              <a:spcAft>
                <a:spcPts val="0"/>
              </a:spcAft>
              <a:buNone/>
            </a:pPr>
            <a:r>
              <a:rPr lang="en-IN" sz="8000">
                <a:solidFill>
                  <a:srgbClr val="2F5496"/>
                </a:solidFill>
                <a:latin typeface="Times New Roman"/>
                <a:ea typeface="Times New Roman"/>
                <a:cs typeface="Times New Roman"/>
                <a:sym typeface="Times New Roman"/>
              </a:rPr>
              <a:t>Any Queries ???</a:t>
            </a:r>
            <a:br>
              <a:rPr lang="en-IN" sz="8000">
                <a:solidFill>
                  <a:srgbClr val="2F5496"/>
                </a:solidFill>
                <a:latin typeface="Times New Roman"/>
                <a:ea typeface="Times New Roman"/>
                <a:cs typeface="Times New Roman"/>
                <a:sym typeface="Times New Roman"/>
              </a:rPr>
            </a:br>
            <a:endParaRPr sz="4000">
              <a:solidFill>
                <a:srgbClr val="2F5496"/>
              </a:solidFill>
              <a:latin typeface="Times New Roman"/>
              <a:ea typeface="Times New Roman"/>
              <a:cs typeface="Times New Roman"/>
              <a:sym typeface="Times New Roman"/>
            </a:endParaRPr>
          </a:p>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pic>
        <p:nvPicPr>
          <p:cNvPr id="171" name="Google Shape;171;p14"/>
          <p:cNvPicPr preferRelativeResize="0"/>
          <p:nvPr/>
        </p:nvPicPr>
        <p:blipFill rotWithShape="1">
          <a:blip r:embed="rId3">
            <a:alphaModFix/>
          </a:blip>
          <a:srcRect/>
          <a:stretch/>
        </p:blipFill>
        <p:spPr>
          <a:xfrm>
            <a:off x="10232571" y="304800"/>
            <a:ext cx="1578429" cy="1055914"/>
          </a:xfrm>
          <a:prstGeom prst="rect">
            <a:avLst/>
          </a:prstGeom>
          <a:noFill/>
          <a:ln>
            <a:noFill/>
          </a:ln>
        </p:spPr>
      </p:pic>
      <p:sp>
        <p:nvSpPr>
          <p:cNvPr id="172" name="Orange Footer Bar"/>
          <p:cNvSpPr/>
          <p:nvPr/>
        </p:nvSpPr>
        <p:spPr>
          <a:xfrm>
            <a:off x="0" y="6089904"/>
            <a:ext cx="12192000" cy="768096"/>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198</TotalTime>
  <Words>880</Words>
  <Application>Microsoft Office PowerPoint</Application>
  <PresentationFormat>Widescreen</PresentationFormat>
  <Paragraphs>125</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Anta</vt:lpstr>
      <vt:lpstr>Aptos</vt:lpstr>
      <vt:lpstr>Aptos Display</vt:lpstr>
      <vt:lpstr>Arial</vt:lpstr>
      <vt:lpstr>Times New Roman</vt:lpstr>
      <vt:lpstr>Office Theme</vt:lpstr>
      <vt:lpstr>     Capstone Project 1  Heart Disease Detection Using Classification Algorithms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TNS INDIA FOUNDATION</dc:creator>
  <cp:lastModifiedBy>Rushika Mhaske</cp:lastModifiedBy>
  <cp:revision>5</cp:revision>
  <dcterms:created xsi:type="dcterms:W3CDTF">2025-09-02T04:26:51Z</dcterms:created>
  <dcterms:modified xsi:type="dcterms:W3CDTF">2026-10-19T16:51:54Z</dcterms:modified>
</cp:coreProperties>
</file>